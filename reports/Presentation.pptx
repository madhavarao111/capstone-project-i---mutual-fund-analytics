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71A33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071A3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0F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960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C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Analytics Platform for Fund Performance, Risk &amp; Investor Behaviour Analysis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50749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22960" y="5577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37560" y="50749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337560" y="5577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50749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46,000+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852160" y="5577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Records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366760" y="50749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32,778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366760" y="5577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performance figures rarely tell the full story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3852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105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Data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2423160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master, NAV, AUM, SIP inflows, transactions and holdings arrive as ten disconnected raw files with no common relational structure.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810512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93852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105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Risk-Adjusted View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73952" y="2423160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returns alone don't reveal whether performance came with excessive volatility, concentration, or drawdown risk.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096512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22452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965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Behaviour Blind Spot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04672" y="4709160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discontinuation, irregular contribution gaps and cohort patterns are invisible from raw transaction logs.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84048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4096512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22452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0965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Consolidated Reporting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73952" y="4709160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dashboard for stakeholders to explore fund performance, investor analytics and market trends together.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 |  Capstone Project 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Capstone Project set out to deliver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3736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562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17007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7D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237744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&amp; Validate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" y="2743200"/>
            <a:ext cx="31638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raw mutual fund datasets — fund master, NAV, AUM, SIP inflows, transactions, holdings &amp; benchmarks.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70832" y="1536192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173736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C9971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85623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96912" y="17007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7D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0" y="237744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Standardize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0" y="2743200"/>
            <a:ext cx="31638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duplicates, and inconsistent types; persist analysis-ready outputs.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93024" y="1536192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94192" y="173736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18562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19104" y="17007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7D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394192" y="237744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 Star Schema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94192" y="2743200"/>
            <a:ext cx="31638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normalized SQLite database — one fund dimension plus four fact tables.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3941064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414223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C9971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6110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474720" y="410565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7D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49808" y="478231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the Data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49808" y="5148072"/>
            <a:ext cx="31638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across fund categories, risk bands, fund houses, NAV trends &amp; transaction patterns.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70832" y="3941064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72000" y="414223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4261104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96912" y="410565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7D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4572000" y="478231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Performance Metrics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4572000" y="5148072"/>
            <a:ext cx="31638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CAGR, Sharpe, Sortino, Alpha, Beta, Max Drawdown and a composite Fund Scorecard.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193024" y="3941064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394192" y="414223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C9971E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064" y="4261104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1119104" y="410565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7D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8394192" y="478231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&amp; Dashboard Layer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8394192" y="5148072"/>
            <a:ext cx="31638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VaR/CVaR, rolling Sharpe, HHI, cohorts, SIP risk-flagging, recommender &amp; a Power BI dashboard.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 |  Capstone Project I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Bluestock Mutual Fund dataset — 10 CSV files simulating real-world industry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727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0299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/ 10 Fund Houses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54680" y="1508760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15727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46,000+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46120" y="20299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 Records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60720" y="1508760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15727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32,778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52160" y="20299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66760" y="1508760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5727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58200" y="20299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Sub-Categories Covered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64240" cy="3291840"/>
        </p:xfrm>
        <a:graphic>
          <a:graphicData uri="http://schemas.openxmlformats.org/drawingml/2006/table">
            <a:tbl>
              <a:tblPr/>
              <a:tblGrid>
                <a:gridCol w="3017520"/>
                <a:gridCol w="384048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01_fund_master.csv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amfi_code, fund_house, category, risk_category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reference data for all 40 schemes across 10 fund houses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02_nav_history.csv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amfi_code, nav_date, nav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daily NAV records used for return &amp; risk computation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07_scheme_performance.csv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returns, alpha, beta, sharpe, sortino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Pre-computed performance &amp; risk indicators per scheme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08_investor_transactions.csv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investor_id, type, amount, state, age_group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32,778 SIP / Lumpsum / Redemption transactions with demographics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09_portfolio_holdings.csv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amfi_code, stock_name, sector, weight_pct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Underlying holdings per scheme, used for HHI concentration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10_benchmark_indices.csv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index_name, index_date, index_value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NIFTY index values used for Alpha/Beta &amp; tracking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 |  Capstone Project 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CSVs → cleaned data → SQLite star schema, orchestrated end-to-end by scripts/etl_pipeline.py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9468" y="1691640"/>
            <a:ext cx="1874520" cy="16002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0696" y="1874520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9468" y="24414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5188" y="27706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CSVs +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live_nav API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992" y="2363724"/>
            <a:ext cx="256032" cy="2560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964028" y="1691640"/>
            <a:ext cx="1874520" cy="16002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256" y="1874520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964028" y="24414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3009748" y="27706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type-cast,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552" y="2363724"/>
            <a:ext cx="256032" cy="25603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158588" y="1691640"/>
            <a:ext cx="1874520" cy="16002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816" y="1874520"/>
            <a:ext cx="512064" cy="51206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58588" y="24414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5204308" y="27706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star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5112" y="2363724"/>
            <a:ext cx="256032" cy="25603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353148" y="1691640"/>
            <a:ext cx="1874520" cy="16002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4376" y="1874520"/>
            <a:ext cx="512064" cy="51206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353148" y="24414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</a:t>
            </a:r>
            <a:endParaRPr lang="en-US" sz="1500" dirty="0"/>
          </a:p>
        </p:txBody>
      </p:sp>
      <p:sp>
        <p:nvSpPr>
          <p:cNvPr id="22" name="Text 13"/>
          <p:cNvSpPr/>
          <p:nvPr/>
        </p:nvSpPr>
        <p:spPr>
          <a:xfrm>
            <a:off x="7398868" y="27706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metrics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9672" y="2363724"/>
            <a:ext cx="256032" cy="256032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547708" y="1691640"/>
            <a:ext cx="1874520" cy="1600200"/>
          </a:xfrm>
          <a:prstGeom prst="roundRect">
            <a:avLst>
              <a:gd name="adj" fmla="val 4000"/>
            </a:avLst>
          </a:prstGeom>
          <a:solidFill>
            <a:srgbClr val="C9971E"/>
          </a:solidFill>
          <a:ln/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28936" y="1874520"/>
            <a:ext cx="512064" cy="512064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9547708" y="24414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27" name="Text 16"/>
          <p:cNvSpPr/>
          <p:nvPr/>
        </p:nvSpPr>
        <p:spPr>
          <a:xfrm>
            <a:off x="9593428" y="27706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8" name="Shape 17"/>
          <p:cNvSpPr/>
          <p:nvPr/>
        </p:nvSpPr>
        <p:spPr>
          <a:xfrm>
            <a:off x="548640" y="370332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9" name="Text 18"/>
          <p:cNvSpPr/>
          <p:nvPr/>
        </p:nvSpPr>
        <p:spPr>
          <a:xfrm>
            <a:off x="868680" y="3858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Post-Load Verification — Lossless ETL Run</a:t>
            </a:r>
            <a:endParaRPr lang="en-US" sz="1400" dirty="0"/>
          </a:p>
        </p:txBody>
      </p:sp>
      <p:sp>
        <p:nvSpPr>
          <p:cNvPr id="30" name="Text 19"/>
          <p:cNvSpPr/>
          <p:nvPr/>
        </p:nvSpPr>
        <p:spPr>
          <a:xfrm>
            <a:off x="868680" y="4224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rows</a:t>
            </a:r>
            <a:endParaRPr lang="en-US" sz="1800" dirty="0"/>
          </a:p>
        </p:txBody>
      </p:sp>
      <p:sp>
        <p:nvSpPr>
          <p:cNvPr id="31" name="Text 20"/>
          <p:cNvSpPr/>
          <p:nvPr/>
        </p:nvSpPr>
        <p:spPr>
          <a:xfrm>
            <a:off x="868680" y="4617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dim_fund</a:t>
            </a:r>
            <a:endParaRPr lang="en-US" sz="1100" dirty="0"/>
          </a:p>
        </p:txBody>
      </p:sp>
      <p:sp>
        <p:nvSpPr>
          <p:cNvPr id="32" name="Text 21"/>
          <p:cNvSpPr/>
          <p:nvPr/>
        </p:nvSpPr>
        <p:spPr>
          <a:xfrm>
            <a:off x="3017520" y="4224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46,000 rows</a:t>
            </a:r>
            <a:endParaRPr lang="en-US" sz="1800" dirty="0"/>
          </a:p>
        </p:txBody>
      </p:sp>
      <p:sp>
        <p:nvSpPr>
          <p:cNvPr id="33" name="Text 22"/>
          <p:cNvSpPr/>
          <p:nvPr/>
        </p:nvSpPr>
        <p:spPr>
          <a:xfrm>
            <a:off x="3017520" y="4617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fact_nav</a:t>
            </a:r>
            <a:endParaRPr lang="en-US" sz="1100" dirty="0"/>
          </a:p>
        </p:txBody>
      </p:sp>
      <p:sp>
        <p:nvSpPr>
          <p:cNvPr id="34" name="Text 23"/>
          <p:cNvSpPr/>
          <p:nvPr/>
        </p:nvSpPr>
        <p:spPr>
          <a:xfrm>
            <a:off x="5166360" y="4224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32,778 rows</a:t>
            </a:r>
            <a:endParaRPr lang="en-US" sz="1800" dirty="0"/>
          </a:p>
        </p:txBody>
      </p:sp>
      <p:sp>
        <p:nvSpPr>
          <p:cNvPr id="35" name="Text 24"/>
          <p:cNvSpPr/>
          <p:nvPr/>
        </p:nvSpPr>
        <p:spPr>
          <a:xfrm>
            <a:off x="5166360" y="4617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fact_transactions</a:t>
            </a:r>
            <a:endParaRPr lang="en-US" sz="1100" dirty="0"/>
          </a:p>
        </p:txBody>
      </p:sp>
      <p:sp>
        <p:nvSpPr>
          <p:cNvPr id="36" name="Text 25"/>
          <p:cNvSpPr/>
          <p:nvPr/>
        </p:nvSpPr>
        <p:spPr>
          <a:xfrm>
            <a:off x="7315200" y="4224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rows</a:t>
            </a:r>
            <a:endParaRPr lang="en-US" sz="1800" dirty="0"/>
          </a:p>
        </p:txBody>
      </p:sp>
      <p:sp>
        <p:nvSpPr>
          <p:cNvPr id="37" name="Text 26"/>
          <p:cNvSpPr/>
          <p:nvPr/>
        </p:nvSpPr>
        <p:spPr>
          <a:xfrm>
            <a:off x="7315200" y="4617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fact_performance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9464040" y="4224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rows</a:t>
            </a:r>
            <a:endParaRPr lang="en-US" sz="1800" dirty="0"/>
          </a:p>
        </p:txBody>
      </p:sp>
      <p:sp>
        <p:nvSpPr>
          <p:cNvPr id="39" name="Text 28"/>
          <p:cNvSpPr/>
          <p:nvPr/>
        </p:nvSpPr>
        <p:spPr>
          <a:xfrm>
            <a:off x="9464040" y="4617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fact_aum</a:t>
            </a:r>
            <a:endParaRPr lang="en-US" sz="1100" dirty="0"/>
          </a:p>
        </p:txBody>
      </p:sp>
      <p:sp>
        <p:nvSpPr>
          <p:cNvPr id="40" name="Text 29"/>
          <p:cNvSpPr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scripts: clean_nav_history.py → clean_transactions.py → clean_scheme_performance.py → load_to_sqlite.py → “ETL Pipeline Completed Successfully!”</a:t>
            </a:r>
            <a:endParaRPr lang="en-US" sz="1200" dirty="0"/>
          </a:p>
        </p:txBody>
      </p:sp>
      <p:sp>
        <p:nvSpPr>
          <p:cNvPr id="41" name="Text 3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 |  Capstone Project I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return &amp; risk-adjusted metrics computed for all 40 schemes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70916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Computed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01952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Returns — base series for all risk metrics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— compound annual growth rate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— return per unit of total volatility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Ratio — return per unit of downside risk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&amp; Beta — vs. NIFTY benchmarks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 — worst peak-to-trough loss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4709160" cy="1874520"/>
          </a:xfrm>
          <a:prstGeom prst="roundRect">
            <a:avLst>
              <a:gd name="adj" fmla="val 3415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4622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Scorecard — Top Ranked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846320"/>
          <a:ext cx="4206240" cy="1234440"/>
        </p:xfrm>
        <a:graphic>
          <a:graphicData uri="http://schemas.openxmlformats.org/drawingml/2006/table">
            <a:tbl>
              <a:tblPr/>
              <a:tblGrid>
                <a:gridCol w="1920240"/>
                <a:gridCol w="822960"/>
                <a:gridCol w="822960"/>
                <a:gridCol w="6400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Large Cap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Midcap Fund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Flexicap Fund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</a:tbl>
          </a:graphicData>
        </a:graphic>
      </p:graphicFrame>
      <p:pic>
        <p:nvPicPr>
          <p:cNvPr id="10" name="Image 0" descr="images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417320"/>
            <a:ext cx="6108192" cy="30540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4498848"/>
            <a:ext cx="6108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Fig: Fund NAV growth vs. benchmark index (benchmark_comparison.py)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532120" y="5029200"/>
            <a:ext cx="61081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scoring — blending CAGR, Sharpe, Alpha, expense ratio &amp; drawdown — reorders the leaderboard vs. raw returns alone.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 |  Capstone Project I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Analytics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deeper, risk- and behaviour-aware analyses beyond standard metrics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361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VaR (95%) — Highest Risk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57400"/>
          <a:ext cx="3291840" cy="1600200"/>
        </p:xfrm>
        <a:graphic>
          <a:graphicData uri="http://schemas.openxmlformats.org/drawingml/2006/table">
            <a:tbl>
              <a:tblPr/>
              <a:tblGrid>
                <a:gridCol w="1737360"/>
                <a:gridCol w="777240"/>
                <a:gridCol w="777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Small Cap – 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Small Cap – Regular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-3.17%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ABSL Small Cap – Regular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 Small Cap – Reg.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-2.54%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Image 0" descr="images/rolling_sharpe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417320"/>
            <a:ext cx="7178040" cy="2331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34840" y="3767328"/>
            <a:ext cx="7178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Fig: Rolling 90-Day Sharpe Ratio — five key funds</a:t>
            </a:r>
            <a:endParaRPr lang="en-US" sz="950" dirty="0"/>
          </a:p>
        </p:txBody>
      </p:sp>
      <p:pic>
        <p:nvPicPr>
          <p:cNvPr id="9" name="Image 1" descr="images/sector_hhi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0"/>
            <a:ext cx="4937760" cy="2148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640" y="6263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Fig: Sector HHI concentration across equity schemes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5669280" y="4114800"/>
            <a:ext cx="5943600" cy="2194560"/>
          </a:xfrm>
          <a:prstGeom prst="roundRect">
            <a:avLst>
              <a:gd name="adj" fmla="val 2917"/>
            </a:avLst>
          </a:prstGeom>
          <a:solidFill>
            <a:srgbClr val="0B2545"/>
          </a:solidFill>
          <a:ln/>
        </p:spPr>
      </p:sp>
      <p:sp>
        <p:nvSpPr>
          <p:cNvPr id="12" name="Text 7"/>
          <p:cNvSpPr/>
          <p:nvPr/>
        </p:nvSpPr>
        <p:spPr>
          <a:xfrm>
            <a:off x="5897880" y="42245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9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3200" dirty="0"/>
          </a:p>
        </p:txBody>
      </p:sp>
      <p:sp>
        <p:nvSpPr>
          <p:cNvPr id="13" name="Text 8"/>
          <p:cNvSpPr/>
          <p:nvPr/>
        </p:nvSpPr>
        <p:spPr>
          <a:xfrm>
            <a:off x="5897880" y="482803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frequent SIP investors (1,332 of 1,362) flagged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 Risk” of discontinuation (avg. gap &gt; 35 days)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897880" y="54864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HHI: Axis Bluechip (0.206) &amp; ABSL Small Cap (0.201) most concentrated</a:t>
            </a:r>
            <a:endParaRPr lang="en-US" sz="9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Recommender: filters by risk appetite, ranks by Sharpe Ratio, returns top 3 funds</a:t>
            </a:r>
            <a:endParaRPr lang="en-US" sz="9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9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cohorts analyzed by first-transaction year for SIP amount &amp; fund preference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 |  Capstone Project I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interactive report pages consolidating industry, performance, investor &amp; NAV analytics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3436" y="1435608"/>
            <a:ext cx="3611880" cy="208483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images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6" y="1481328"/>
            <a:ext cx="3520440" cy="19933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9156" y="35021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289908" y="1435608"/>
            <a:ext cx="3611880" cy="208483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images/image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628" y="1481328"/>
            <a:ext cx="3520440" cy="19933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35628" y="35021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066380" y="1435608"/>
            <a:ext cx="3611880" cy="208483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2" descr="images/image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100" y="1481328"/>
            <a:ext cx="3520440" cy="19933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12100" y="35021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Analytics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2401672" y="3858768"/>
            <a:ext cx="3611880" cy="208483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3" descr="images/image1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392" y="3904488"/>
            <a:ext cx="3520440" cy="19933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447392" y="5925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&amp; Market Trends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178144" y="3858768"/>
            <a:ext cx="3611880" cy="208483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4" descr="images/image1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864" y="3904488"/>
            <a:ext cx="3520440" cy="19933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23864" y="5925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Detail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 |  Capstone Project I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synthesized from EDA, performance and advanced analytics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92224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110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54480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is concentrated among a few large houses — SBI, ICICI Prudential, HDFC &amp; Nippon India dominate average AUM.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217920" y="1463040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82512" y="1792224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191109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554480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universe skews Equity-heavy (34/40) and Moderate-to-High risk (28/40).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548640" y="2798064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3232" y="3127248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2461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2889504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ranking reorders the leaderboard — Mirae Asset Large Cap tops the Fund Scorecard (34% CAGR, Sharpe 1.4483).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6217920" y="2798064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382512" y="3127248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3246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2889504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schemes carry the highest tail risk across VaR / CVaR.</a:t>
            </a:r>
            <a:endParaRPr lang="en-US" sz="1080" dirty="0"/>
          </a:p>
        </p:txBody>
      </p:sp>
      <p:sp>
        <p:nvSpPr>
          <p:cNvPr id="20" name="Shape 14"/>
          <p:cNvSpPr/>
          <p:nvPr/>
        </p:nvSpPr>
        <p:spPr>
          <a:xfrm>
            <a:off x="548640" y="4133088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13232" y="4462272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581144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4224528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dominates by transaction count (~60%), but Lumpsum &amp; Redemption tickets are ~23x larger on average.</a:t>
            </a:r>
            <a:endParaRPr lang="en-US" sz="1080" dirty="0"/>
          </a:p>
        </p:txBody>
      </p:sp>
      <p:sp>
        <p:nvSpPr>
          <p:cNvPr id="24" name="Shape 17"/>
          <p:cNvSpPr/>
          <p:nvPr/>
        </p:nvSpPr>
        <p:spPr>
          <a:xfrm>
            <a:off x="6217920" y="4133088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382512" y="4462272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384" y="4581144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40880" y="4224528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of frequent SIP investors show irregular gaps — a strong signal for retention outreach.</a:t>
            </a:r>
            <a:endParaRPr lang="en-US" sz="1080" dirty="0"/>
          </a:p>
        </p:txBody>
      </p:sp>
      <p:sp>
        <p:nvSpPr>
          <p:cNvPr id="28" name="Shape 20"/>
          <p:cNvSpPr/>
          <p:nvPr/>
        </p:nvSpPr>
        <p:spPr>
          <a:xfrm>
            <a:off x="548640" y="5468112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13232" y="5797296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5916168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371600" y="5559552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concentration (HHI) varies meaningfully even within similar equity categories.</a:t>
            </a:r>
            <a:endParaRPr lang="en-US" sz="1080" dirty="0"/>
          </a:p>
        </p:txBody>
      </p:sp>
      <p:sp>
        <p:nvSpPr>
          <p:cNvPr id="32" name="Shape 23"/>
          <p:cNvSpPr/>
          <p:nvPr/>
        </p:nvSpPr>
        <p:spPr>
          <a:xfrm>
            <a:off x="6217920" y="5468112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382512" y="5797296"/>
            <a:ext cx="512064" cy="51206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1384" y="5916168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40880" y="5559552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90-day Sharpe shows risk-adjusted performance shifts over time, not static.</a:t>
            </a:r>
            <a:endParaRPr lang="en-US" sz="1080" dirty="0"/>
          </a:p>
        </p:txBody>
      </p:sp>
      <p:sp>
        <p:nvSpPr>
          <p:cNvPr id="36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 |  Capstone Project I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286000"/>
            <a:ext cx="5486400" cy="5486400"/>
          </a:xfrm>
          <a:prstGeom prst="ellipse">
            <a:avLst/>
          </a:prstGeom>
          <a:solidFill>
            <a:srgbClr val="071A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validated end-to-end pipeline — raw CSVs through cleaning, star-schema database design, exploratory analysis, performance &amp; advanced analytics, and an interactive Power BI dashboard.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ETL: 46,000+ NAV rows &amp; 32,778+ transactions loaded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cross-checked against domain expectations (e.g. small-cap tail risk)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on AUM concentration, fund ranking &amp; SIP retention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09360" y="1234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1627632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integration across all 40 schemes on a scheduled basis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recommendation using investor profile &amp; fund similarity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SIP-discontinuation modeling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 PostgreSQL / cloud data warehouse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orchestration via Airflow or Prefect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self-service dashboard (Streamlit / Flask)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DA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 |  Capstone Project 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</dc:title>
  <dc:subject>PptxGenJS Presentation</dc:subject>
  <dc:creator>Capstone Project I</dc:creator>
  <cp:lastModifiedBy>Capstone Project I</cp:lastModifiedBy>
  <cp:revision>1</cp:revision>
  <dcterms:created xsi:type="dcterms:W3CDTF">2026-07-05T10:51:27Z</dcterms:created>
  <dcterms:modified xsi:type="dcterms:W3CDTF">2026-07-05T10:51:27Z</dcterms:modified>
</cp:coreProperties>
</file>